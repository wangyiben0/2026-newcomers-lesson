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2"/>
    <p:sldId id="272" r:id="rId3"/>
    <p:sldId id="274" r:id="rId4"/>
    <p:sldId id="275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" y="54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23456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97832" y="1549750"/>
            <a:ext cx="82067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高精度是什么？</a:t>
            </a:r>
            <a:endParaRPr lang="en-US" altLang="zh-CN" sz="2400" b="1" kern="100" dirty="0" smtClean="0">
              <a:latin typeface="仿宋" pitchFamily="49" charset="-122"/>
              <a:ea typeface="仿宋" pitchFamily="49" charset="-122"/>
              <a:cs typeface="Courier New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    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用数组存储数值的每一位，整个数组就表示这一个数。这样的运算方法就叫高精度算法。</a:t>
            </a:r>
            <a:endParaRPr lang="zh-CN" altLang="zh-CN" sz="2000" kern="100" dirty="0">
              <a:latin typeface="宋体" pitchFamily="2" charset="-122"/>
              <a:ea typeface="宋体" pitchFamily="2" charset="-122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6526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820678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为什么要使用高精度？</a:t>
            </a:r>
            <a:endParaRPr lang="en-US" altLang="zh-CN" sz="2400" b="1" kern="100" dirty="0" smtClean="0">
              <a:latin typeface="仿宋" pitchFamily="49" charset="-122"/>
              <a:ea typeface="仿宋" pitchFamily="49" charset="-122"/>
              <a:cs typeface="Courier New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    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在</a:t>
            </a:r>
            <a:r>
              <a:rPr lang="en-US" altLang="zh-CN" sz="2000" i="1" dirty="0" err="1">
                <a:latin typeface="宋体" pitchFamily="2" charset="-122"/>
                <a:ea typeface="宋体" pitchFamily="2" charset="-122"/>
              </a:rPr>
              <a:t>c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++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里，每一种实数变量型都是有一个数据储存范围的。譬如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型，它的数据范围就为 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-2147483648 &lt; 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&lt; 214748364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，也就是 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-2^{31} &lt; 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&lt; 2^{31} 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。一旦你给一个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型变量存一个大于这个范围的数，它就会产生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溢出。在数的值超过范围的时候，就需要使用高精度。</a:t>
            </a:r>
            <a:endParaRPr lang="zh-CN" altLang="zh-CN" sz="2000" kern="100" dirty="0">
              <a:latin typeface="宋体" pitchFamily="2" charset="-122"/>
              <a:ea typeface="宋体" pitchFamily="2" charset="-122"/>
              <a:cs typeface="Courier New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585" y="1515146"/>
            <a:ext cx="9334604" cy="4584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910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高精度的四则运算</a:t>
            </a:r>
            <a:endParaRPr lang="en-US" altLang="zh-CN" sz="2400" b="1" kern="100" dirty="0" smtClean="0">
              <a:latin typeface="仿宋" pitchFamily="49" charset="-122"/>
              <a:ea typeface="仿宋" pitchFamily="49" charset="-122"/>
              <a:cs typeface="Courier New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    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在接下来的代码中，会使用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vector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进行存储和运算，但是实际上会导致常数较大的问题（如果你有使用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vector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进行运算同时常数较小，可以提出来）。所以建议在实际比赛当中，还是使用数组进行计算。</a:t>
            </a:r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2000" kern="100" dirty="0" smtClean="0">
                <a:latin typeface="宋体" pitchFamily="2" charset="-122"/>
                <a:ea typeface="宋体" pitchFamily="2" charset="-122"/>
                <a:cs typeface="Courier New"/>
              </a:rPr>
              <a:t>    </a:t>
            </a:r>
            <a:r>
              <a:rPr lang="zh-CN" altLang="en-US" sz="2000" kern="100" dirty="0" smtClean="0">
                <a:latin typeface="宋体" pitchFamily="2" charset="-122"/>
                <a:ea typeface="宋体" pitchFamily="2" charset="-122"/>
                <a:cs typeface="Courier New"/>
              </a:rPr>
              <a:t>同时，我们仅讨论在整数的情况下的运算</a:t>
            </a:r>
            <a:endParaRPr lang="zh-CN" altLang="zh-CN" sz="2000" kern="100" dirty="0">
              <a:latin typeface="宋体" pitchFamily="2" charset="-122"/>
              <a:ea typeface="宋体" pitchFamily="2" charset="-122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97050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高精度结构体定义</a:t>
            </a:r>
            <a:endParaRPr lang="en-US" altLang="zh-CN" sz="2400" b="1" kern="100" dirty="0" smtClean="0">
              <a:latin typeface="仿宋" pitchFamily="49" charset="-122"/>
              <a:ea typeface="仿宋" pitchFamily="49" charset="-122"/>
              <a:cs typeface="Courier New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#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include&lt;bits/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stdc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++.h&gt;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using namespace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std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#define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long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long</a:t>
            </a:r>
            <a:endParaRPr lang="en-US" altLang="zh-CN" sz="1600" dirty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mod=10;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struct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big{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vector&lt;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&gt;v;//</a:t>
            </a:r>
            <a:r>
              <a:rPr lang="zh-CN" altLang="en-US" sz="1600" dirty="0">
                <a:latin typeface="宋体" pitchFamily="2" charset="-122"/>
                <a:ea typeface="宋体" pitchFamily="2" charset="-122"/>
              </a:rPr>
              <a:t>低位对应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最小值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kern="100" dirty="0" smtClean="0">
                <a:latin typeface="宋体" pitchFamily="2" charset="-122"/>
                <a:ea typeface="宋体" pitchFamily="2" charset="-122"/>
                <a:cs typeface="Courier New"/>
              </a:rPr>
              <a:t>}</a:t>
            </a:r>
            <a:endParaRPr lang="zh-CN" altLang="zh-CN" sz="1600" kern="100" dirty="0">
              <a:latin typeface="宋体" pitchFamily="2" charset="-122"/>
              <a:ea typeface="宋体" pitchFamily="2" charset="-122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9514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r>
              <a:rPr lang="zh-CN" altLang="en-US" sz="2400" b="1" kern="100" smtClean="0">
                <a:latin typeface="仿宋" pitchFamily="49" charset="-122"/>
                <a:ea typeface="仿宋" pitchFamily="49" charset="-122"/>
                <a:cs typeface="Courier New"/>
              </a:rPr>
              <a:t>结构体</a:t>
            </a:r>
            <a:r>
              <a:rPr lang="zh-CN" altLang="en-US" sz="2400" b="1" kern="100" smtClean="0">
                <a:latin typeface="仿宋" pitchFamily="49" charset="-122"/>
                <a:ea typeface="仿宋" pitchFamily="49" charset="-122"/>
                <a:cs typeface="Courier New"/>
              </a:rPr>
              <a:t>重载比较运算符</a:t>
            </a:r>
            <a:endParaRPr lang="en-US" altLang="zh-CN" sz="2400" b="1" kern="100" dirty="0" smtClean="0">
              <a:latin typeface="仿宋" pitchFamily="49" charset="-122"/>
              <a:ea typeface="仿宋" pitchFamily="49" charset="-122"/>
              <a:cs typeface="Courier New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只需重载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”&lt;”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，其它运算皆可用此计算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err="1" smtClean="0">
                <a:latin typeface="宋体" pitchFamily="2" charset="-122"/>
                <a:ea typeface="宋体" pitchFamily="2" charset="-122"/>
              </a:rPr>
              <a:t>bool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operator &lt;(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big&amp; a)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if(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()!=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a.v.size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())return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()&lt;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a.v.size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for(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i=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()-1;~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i;i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--)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    if(v[i]!=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a.v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[i])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        return v[i]&lt;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a.v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return false;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bool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operator &gt;(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big&amp; a)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{return a&lt;*this;}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bool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operator &gt;=(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big&amp; a)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{return !(*this&lt;a);}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bool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operator ==(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big&amp; a)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{return !(*this&lt;a||a&lt;*this);}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bool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operator !=(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big&amp; a)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{return *this&lt;a||a&lt;*this;}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bool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operator &lt;=(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big&amp; a)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{return !(a&lt;*this);}</a:t>
            </a:r>
            <a:endParaRPr lang="zh-CN" altLang="zh-CN" sz="1600" kern="100" dirty="0">
              <a:latin typeface="宋体" pitchFamily="2" charset="-122"/>
              <a:ea typeface="宋体" pitchFamily="2" charset="-122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2983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高精加高精</a:t>
            </a:r>
            <a:endParaRPr lang="en-US" altLang="zh-CN" sz="2400" b="1" kern="100" dirty="0" smtClean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6909" y="1474933"/>
            <a:ext cx="3038475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871" y="3552982"/>
            <a:ext cx="363855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341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高精加高精</a:t>
            </a:r>
            <a:endParaRPr lang="en-US" altLang="zh-CN" sz="2400" b="1" kern="100" dirty="0" smtClean="0">
              <a:latin typeface="仿宋" pitchFamily="49" charset="-122"/>
              <a:ea typeface="仿宋" pitchFamily="49" charset="-122"/>
              <a:cs typeface="Courier New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big operator +(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big&amp; a)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{//</a:t>
            </a:r>
            <a:r>
              <a:rPr lang="zh-CN" altLang="en-US" sz="1600" dirty="0">
                <a:latin typeface="宋体" pitchFamily="2" charset="-122"/>
                <a:ea typeface="宋体" pitchFamily="2" charset="-122"/>
              </a:rPr>
              <a:t>正整数加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lv=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(),la=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a.v.size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(),lm=max(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(),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a.v.size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big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b;b.v.resize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(lm+1,0);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for(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i=0;i&lt;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lv;i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++)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[i]=v[i];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for(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i=0;i&lt;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la;i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++){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[i]+=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a.v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if(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[i]&gt;=mod)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[i+1]+=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[i]/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mod,b.v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[i]%=mod;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while(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()&amp;&amp;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b.v.back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()==0)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b.v.pop_back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return b;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175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</a:t>
            </a:r>
            <a:r>
              <a:rPr lang="zh-CN" altLang="en-US" sz="2400" b="1" kern="100" dirty="0">
                <a:latin typeface="仿宋" pitchFamily="49" charset="-122"/>
                <a:ea typeface="仿宋" pitchFamily="49" charset="-122"/>
                <a:cs typeface="Courier New"/>
              </a:rPr>
              <a:t>减</a:t>
            </a: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</a:t>
            </a:r>
            <a:endParaRPr lang="en-US" altLang="zh-CN" sz="2400" b="1" kern="100" dirty="0" smtClean="0">
              <a:latin typeface="仿宋" pitchFamily="49" charset="-122"/>
              <a:ea typeface="仿宋" pitchFamily="49" charset="-122"/>
              <a:cs typeface="Courier New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    对于无符号的情况可以直接高精减，但是也是从低位到高位。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   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有符号的情况，可先在外部判定被减数和减数的大小，也可在结构体重载运算符时判定，当前结构体我们使用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*this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表示。</a:t>
            </a:r>
            <a:endParaRPr lang="en-US" altLang="zh-CN" sz="1600" dirty="0"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3839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</a:t>
            </a:r>
            <a:r>
              <a:rPr lang="zh-CN" altLang="en-US" sz="2400" b="1" kern="100" dirty="0">
                <a:latin typeface="仿宋" pitchFamily="49" charset="-122"/>
                <a:ea typeface="仿宋" pitchFamily="49" charset="-122"/>
                <a:cs typeface="Courier New"/>
              </a:rPr>
              <a:t>减</a:t>
            </a: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</a:t>
            </a:r>
            <a:endParaRPr lang="en-US" altLang="zh-CN" sz="2400" b="1" kern="100" dirty="0" smtClean="0">
              <a:latin typeface="仿宋" pitchFamily="49" charset="-122"/>
              <a:ea typeface="仿宋" pitchFamily="49" charset="-122"/>
              <a:cs typeface="Courier New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big operator -(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big&amp; a)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{//</a:t>
            </a:r>
            <a:r>
              <a:rPr lang="zh-CN" altLang="en-US" sz="1600" dirty="0">
                <a:latin typeface="宋体" pitchFamily="2" charset="-122"/>
                <a:ea typeface="宋体" pitchFamily="2" charset="-122"/>
              </a:rPr>
              <a:t>可以小减大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,</a:t>
            </a:r>
            <a:r>
              <a:rPr lang="zh-CN" altLang="en-US" sz="1600" dirty="0">
                <a:latin typeface="宋体" pitchFamily="2" charset="-122"/>
                <a:ea typeface="宋体" pitchFamily="2" charset="-122"/>
              </a:rPr>
              <a:t>最后一位作为符号位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lv=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(),la=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a.v.size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(),lm=max(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la,lv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),f=1;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if(*this&lt;a)f=-1;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big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b;b.v.resize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(lm+1,0);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for(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i=0;i&lt;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lv;i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++)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[i]=f*v[i];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for(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i=0;i&lt;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la;i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++){ 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[i]-=f*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a.v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if(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[i]&lt;0)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[i]+=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mod,b.v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[i+1]--;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for(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i=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la;i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&lt;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lv;i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++)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if(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[i]&lt;0)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[i]+=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mod,b.v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[i+1]--;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while(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()&amp;&amp;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b.v.back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()==0)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b.v.pop_back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if(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b.v.push_back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(f==-1?1:0);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return b;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038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高精乘低精</a:t>
            </a:r>
            <a:endParaRPr lang="en-US" altLang="zh-CN" sz="2400" b="1" kern="100" dirty="0" smtClean="0">
              <a:latin typeface="仿宋" pitchFamily="49" charset="-122"/>
              <a:ea typeface="仿宋" pitchFamily="49" charset="-122"/>
              <a:cs typeface="Courier New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    对于</a:t>
            </a:r>
            <a:r>
              <a:rPr lang="zh-CN" altLang="en-US" sz="1600" dirty="0">
                <a:latin typeface="宋体" pitchFamily="2" charset="-122"/>
                <a:ea typeface="宋体" pitchFamily="2" charset="-122"/>
              </a:rPr>
              <a:t>两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个数相乘的情况：假设第一个数每一位上的值是</a:t>
            </a:r>
            <a:r>
              <a:rPr lang="en-US" altLang="zh-CN" sz="1600" dirty="0" err="1" smtClean="0">
                <a:latin typeface="宋体" pitchFamily="2" charset="-122"/>
                <a:ea typeface="宋体" pitchFamily="2" charset="-122"/>
              </a:rPr>
              <a:t>abcd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，第二个数的值是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e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，那么</a:t>
            </a:r>
            <a:r>
              <a:rPr lang="en-US" altLang="zh-CN" sz="1600" dirty="0" err="1" smtClean="0">
                <a:latin typeface="宋体" pitchFamily="2" charset="-122"/>
                <a:ea typeface="宋体" pitchFamily="2" charset="-122"/>
              </a:rPr>
              <a:t>abcd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*e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可看成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a*e*1000+b*e*100+c*e*10+d*e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。因此只需要将高精每一位上的数乘上低精即可，再从小到大进行进位，也可以一边计算一边进位。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    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例如在计算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567*12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的时候，我们会发现应当是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   5   6    7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×           12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————————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5    6    7*12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—————————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5    6    84</a:t>
            </a:r>
          </a:p>
        </p:txBody>
      </p:sp>
    </p:spTree>
    <p:extLst>
      <p:ext uri="{BB962C8B-B14F-4D97-AF65-F5344CB8AC3E}">
        <p14:creationId xmlns:p14="http://schemas.microsoft.com/office/powerpoint/2010/main" val="164356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高精乘低精</a:t>
            </a:r>
            <a:endParaRPr lang="en-US" altLang="zh-CN" sz="2400" b="1" kern="100" dirty="0" smtClean="0">
              <a:latin typeface="仿宋" pitchFamily="49" charset="-122"/>
              <a:ea typeface="仿宋" pitchFamily="49" charset="-122"/>
              <a:cs typeface="Courier New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5    6    84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————————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在计算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6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*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12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的时候要注意，应当是先进位还是先进行乘法运算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如果先进行进位操作：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5    14   4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————————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再接计算的话：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5    14*12 4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5    168   4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21*5 8     4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105  8     4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10584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这似乎与我们应当计算的结果大相径庭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731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高精乘低精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big operator *(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&amp; a)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lv=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jw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=0;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big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b;b.v.resize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(lv+15,0);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for(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i=0;i&lt;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lv;i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++){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[i]=v[i]*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a+jw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jw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[i]/mod;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if(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[i]&gt;=mod)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[i]-=mod*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jw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while(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jw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[lv++]=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jw%mod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jw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/=mod;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while(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()&amp;&amp;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b.v.back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()==0)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b.v.pop_back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return b;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11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高精乘高精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与我们竖式计算的时候相同，每两位相乘再相加即可：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例如</a:t>
            </a:r>
            <a:r>
              <a:rPr lang="en-US" altLang="zh-CN" sz="1600" dirty="0" err="1" smtClean="0">
                <a:latin typeface="宋体" pitchFamily="2" charset="-122"/>
                <a:ea typeface="宋体" pitchFamily="2" charset="-122"/>
              </a:rPr>
              <a:t>ab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*cd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：</a:t>
            </a:r>
            <a:endParaRPr lang="en-US" altLang="zh-CN" sz="1600" dirty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       a   b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×     c   d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———————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    ad  </a:t>
            </a:r>
            <a:r>
              <a:rPr lang="en-US" altLang="zh-CN" sz="1600" dirty="0" err="1" smtClean="0">
                <a:latin typeface="宋体" pitchFamily="2" charset="-122"/>
                <a:ea typeface="宋体" pitchFamily="2" charset="-122"/>
              </a:rPr>
              <a:t>bd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ac  </a:t>
            </a:r>
            <a:r>
              <a:rPr lang="en-US" altLang="zh-CN" sz="1600" dirty="0" err="1" smtClean="0">
                <a:latin typeface="宋体" pitchFamily="2" charset="-122"/>
                <a:ea typeface="宋体" pitchFamily="2" charset="-122"/>
              </a:rPr>
              <a:t>bc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———————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=&gt;ac  </a:t>
            </a:r>
            <a:r>
              <a:rPr lang="en-US" altLang="zh-CN" sz="1600" dirty="0" err="1" smtClean="0">
                <a:latin typeface="宋体" pitchFamily="2" charset="-122"/>
                <a:ea typeface="宋体" pitchFamily="2" charset="-122"/>
              </a:rPr>
              <a:t>ad+bc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600" dirty="0" err="1" smtClean="0">
                <a:latin typeface="宋体" pitchFamily="2" charset="-122"/>
                <a:ea typeface="宋体" pitchFamily="2" charset="-122"/>
              </a:rPr>
              <a:t>bd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再依次进位即可。</a:t>
            </a:r>
            <a:endParaRPr lang="en-US" altLang="zh-CN" sz="1600" dirty="0"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9508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高精乘高精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big operator *(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big&amp; a)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{//</a:t>
            </a:r>
            <a:r>
              <a:rPr lang="zh-CN" altLang="en-US" sz="1600" dirty="0">
                <a:latin typeface="宋体" pitchFamily="2" charset="-122"/>
                <a:ea typeface="宋体" pitchFamily="2" charset="-122"/>
              </a:rPr>
              <a:t>正整数乘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lv=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(),la=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a.v.size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big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b;b.v.resize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(lv+la,0);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for(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i=0;i&lt;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lv;i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++){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for(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j=0;j&lt;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la;j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++){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i+j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]+=v[i]*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a.v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[j];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    if(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i+j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]&gt;=mod)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    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[i+j+1]+=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i+j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]/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mod,b.v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i+j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]%=mod;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while(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()&amp;&amp;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b.v.back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()==0)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b.v.pop_back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return b;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952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高精除低精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与普通除法计算相同，例如计算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3425/12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：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       285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   12/3425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    24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——————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    1025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     96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——————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      65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      60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——————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Symbol"/>
              <a:buChar char="Þ"/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       5</a:t>
            </a:r>
          </a:p>
        </p:txBody>
      </p:sp>
    </p:spTree>
    <p:extLst>
      <p:ext uri="{BB962C8B-B14F-4D97-AF65-F5344CB8AC3E}">
        <p14:creationId xmlns:p14="http://schemas.microsoft.com/office/powerpoint/2010/main" val="1033792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高精除低精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big operator /(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&amp; a)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{//</a:t>
            </a:r>
            <a:r>
              <a:rPr lang="zh-CN" altLang="en-US" sz="1600" dirty="0">
                <a:latin typeface="宋体" pitchFamily="2" charset="-122"/>
                <a:ea typeface="宋体" pitchFamily="2" charset="-122"/>
              </a:rPr>
              <a:t>高除低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lv=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s=0;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big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b;b.v.resize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(lv,0);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for(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i=lv-1;~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i;i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--){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s=s*10+v[i];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if(s&lt;a)continue;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[i]=s/a;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    s%=a;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while(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b.v.size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()&amp;&amp;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b.v.back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()==0)</a:t>
            </a:r>
            <a:r>
              <a:rPr lang="en-US" altLang="zh-CN" sz="1600" dirty="0" err="1">
                <a:latin typeface="宋体" pitchFamily="2" charset="-122"/>
                <a:ea typeface="宋体" pitchFamily="2" charset="-122"/>
              </a:rPr>
              <a:t>b.v.pop_back</a:t>
            </a: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();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>
                <a:latin typeface="宋体" pitchFamily="2" charset="-122"/>
                <a:ea typeface="宋体" pitchFamily="2" charset="-122"/>
              </a:rPr>
              <a:t>    return b;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}</a:t>
            </a:r>
            <a:endParaRPr lang="en-US" altLang="zh-CN" sz="1600" dirty="0"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565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高精除</a:t>
            </a:r>
            <a:r>
              <a:rPr lang="zh-CN" altLang="en-US" sz="2400" b="1" kern="100" dirty="0">
                <a:latin typeface="仿宋" pitchFamily="49" charset="-122"/>
                <a:ea typeface="仿宋" pitchFamily="49" charset="-122"/>
                <a:cs typeface="Courier New"/>
              </a:rPr>
              <a:t>高</a:t>
            </a: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精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原理同高精除低精，只不过我们将除法改为减法，从高位往低位扫过去。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可以维护被除数当前被除的左右区间，比较区间中的数与除数的大小。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当区间比除数小的时候就移动右端点，否则就可以减一次除数。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在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10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进制下最多每个位置减</a:t>
            </a:r>
            <a:r>
              <a:rPr lang="en-US" altLang="zh-CN" sz="1600" dirty="0" smtClean="0">
                <a:latin typeface="宋体" pitchFamily="2" charset="-122"/>
                <a:ea typeface="宋体" pitchFamily="2" charset="-122"/>
              </a:rPr>
              <a:t>9</a:t>
            </a: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次，但是当进制很大的时候，可以考虑使用二分来缩减时间。</a:t>
            </a:r>
            <a:endParaRPr lang="en-US" altLang="zh-CN" sz="1600" dirty="0" smtClean="0"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525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高精除</a:t>
            </a:r>
            <a:r>
              <a:rPr lang="zh-CN" altLang="en-US" sz="2400" b="1" kern="100" dirty="0">
                <a:latin typeface="仿宋" pitchFamily="49" charset="-122"/>
                <a:ea typeface="仿宋" pitchFamily="49" charset="-122"/>
                <a:cs typeface="Courier New"/>
              </a:rPr>
              <a:t>高</a:t>
            </a: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精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big operator /(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big&amp; a)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big 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b;b.v.resize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v.size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(),0);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vector&lt;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&gt;res=v;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lef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=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res.size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()-1,la=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a.v.size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(),rig=max(0,lef-la+1);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while(rig&gt;=0){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while(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lef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&gt;=0&amp;&amp;res[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lef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]==0)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lef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--;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//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printf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("%d %d\n",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lef,rig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bool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f=true;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if(lef-rig+1&lt;la)f=false;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if(f==true&amp;&amp;lef-rig+1==la){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for(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i=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lef;i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&gt;=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rig;i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--){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    if(res[i]!=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a.v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[i-rig]){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        f=res[i]&gt;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a.v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[i-rig];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        break;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if(f==false){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rig--;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continue;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for(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i=0;i&lt;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la;i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++){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if(res[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i+rig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]&lt;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a.v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[i])res[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i+rig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]+=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mod,res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[i+rig+1]--;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res[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i+rig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]-=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a.v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[i];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b.v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[rig]++;//</a:t>
            </a:r>
            <a:r>
              <a:rPr lang="zh-CN" altLang="en-US" sz="800" dirty="0">
                <a:latin typeface="宋体" pitchFamily="2" charset="-122"/>
                <a:ea typeface="宋体" pitchFamily="2" charset="-122"/>
              </a:rPr>
              <a:t>暴力枚举，进制增加可用二分等方式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8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while(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b.v.size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()&amp;&amp;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b.v.back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()==0)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b.v.pop_back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();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return b;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}</a:t>
            </a:r>
            <a:endParaRPr lang="en-US" altLang="zh-CN" sz="800" dirty="0" smtClean="0"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40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1546" r="1988" b="2608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4" y="176874"/>
            <a:ext cx="11679908" cy="66963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69667" y="176874"/>
            <a:ext cx="6096000" cy="442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kern="100" dirty="0">
                <a:latin typeface="仿宋" pitchFamily="49" charset="-122"/>
                <a:ea typeface="仿宋" pitchFamily="49" charset="-122"/>
                <a:cs typeface="Courier New"/>
              </a:rPr>
              <a:t>高精度</a:t>
            </a:r>
            <a:endParaRPr lang="zh-CN" altLang="zh-CN" kern="100" dirty="0">
              <a:latin typeface="仿宋" pitchFamily="49" charset="-122"/>
              <a:ea typeface="仿宋" pitchFamily="49" charset="-122"/>
              <a:cs typeface="Courier New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3888" y="915164"/>
            <a:ext cx="10207703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2400" b="1" kern="100" dirty="0" smtClean="0">
                <a:latin typeface="仿宋" pitchFamily="49" charset="-122"/>
                <a:ea typeface="仿宋" pitchFamily="49" charset="-122"/>
                <a:cs typeface="Courier New"/>
              </a:rPr>
              <a:t>高精取模</a:t>
            </a:r>
            <a:endParaRPr lang="en-US" altLang="zh-CN" sz="2400" b="1" kern="100" dirty="0" smtClean="0">
              <a:latin typeface="仿宋" pitchFamily="49" charset="-122"/>
              <a:ea typeface="仿宋" pitchFamily="49" charset="-122"/>
              <a:cs typeface="Courier New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在除法计算结束的时候会有一个余数，返回余数即可。</a:t>
            </a:r>
            <a:endParaRPr lang="en-US" altLang="zh-CN" sz="1600" dirty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big operator %(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big&amp; a)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const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vector&lt;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ll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&gt;res=v;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lef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=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res.size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()-1,la=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a.v.size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(),rig=max(0,lef-la+1);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while(rig&gt;=0){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while(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lef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&gt;=0&amp;&amp;res[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lef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]==0)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lef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--;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//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printf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("%d %d\n",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lef,rig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bool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f=true;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if(lef-rig+1&lt;la)f=false;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if(f==true&amp;&amp;lef-rig+1==la){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for(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i=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lef;i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&gt;=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rig;i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--){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    if(res[i]!=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a.v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[i-rig]){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        f=res[i]&gt;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a.v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[i-rig];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        break;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if(f==false){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rig--;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continue;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for(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i=0;i&lt;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la;i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++){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if(res[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i+rig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]&lt;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a.v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[i])res[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i+rig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]+=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mod,res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[i+rig+1]--;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    res[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i+rig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]-=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a.v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[i];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    }//</a:t>
            </a:r>
            <a:r>
              <a:rPr lang="zh-CN" altLang="en-US" sz="800" dirty="0">
                <a:latin typeface="宋体" pitchFamily="2" charset="-122"/>
                <a:ea typeface="宋体" pitchFamily="2" charset="-122"/>
              </a:rPr>
              <a:t>暴力枚举，进制增加可用二分等方式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zh-CN" altLang="en-US" sz="800" dirty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big 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b;b.v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=res;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while(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b.v.size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()&amp;&amp;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b.v.back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()==0)</a:t>
            </a:r>
            <a:r>
              <a:rPr lang="en-US" altLang="zh-CN" sz="800" dirty="0" err="1">
                <a:latin typeface="宋体" pitchFamily="2" charset="-122"/>
                <a:ea typeface="宋体" pitchFamily="2" charset="-122"/>
              </a:rPr>
              <a:t>b.v.pop_back</a:t>
            </a: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();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    return b;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r>
              <a:rPr lang="en-US" altLang="zh-CN" sz="800" dirty="0">
                <a:latin typeface="宋体" pitchFamily="2" charset="-122"/>
                <a:ea typeface="宋体" pitchFamily="2" charset="-122"/>
              </a:rPr>
              <a:t>}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2970530" algn="l"/>
              </a:tabLst>
            </a:pPr>
            <a:endParaRPr lang="en-US" altLang="zh-CN" sz="800" dirty="0" smtClean="0"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329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7865</TotalTime>
  <Words>1506</Words>
  <Application>Microsoft Office PowerPoint</Application>
  <PresentationFormat>宽屏</PresentationFormat>
  <Paragraphs>239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仿宋</vt:lpstr>
      <vt:lpstr>宋体</vt:lpstr>
      <vt:lpstr>微软雅黑</vt:lpstr>
      <vt:lpstr>Arial</vt:lpstr>
      <vt:lpstr>Calibri</vt:lpstr>
      <vt:lpstr>Courier New</vt:lpstr>
      <vt:lpstr>Symbol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Sky123.Org</cp:lastModifiedBy>
  <cp:revision>299</cp:revision>
  <dcterms:created xsi:type="dcterms:W3CDTF">2021-09-21T13:07:00Z</dcterms:created>
  <dcterms:modified xsi:type="dcterms:W3CDTF">2024-01-04T05:23:28Z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00F8D94F642B4B51AAF719C6D5237D41</vt:lpwstr>
  </property>
  <property fmtid="{D5CDD505-2E9C-101B-9397-08002B2CF9AE}" pid="3" name="KSOProductBuildVer">
    <vt:lpwstr>2052-11.1.0.11115</vt:lpwstr>
  </property>
</Properties>
</file>